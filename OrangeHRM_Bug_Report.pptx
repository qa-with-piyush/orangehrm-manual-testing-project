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Arial Black" panose="020B0A04020102020204" pitchFamily="3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005E34B-E1C9-4433-81CB-9734E210336A}">
  <a:tblStyle styleId="{A005E34B-E1C9-4433-81CB-9734E21033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20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132320" y="-1188720"/>
            <a:ext cx="3840480" cy="3840480"/>
          </a:xfrm>
          <a:prstGeom prst="ellipse">
            <a:avLst/>
          </a:prstGeom>
          <a:solidFill>
            <a:srgbClr val="FF6600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772400" y="-457200"/>
            <a:ext cx="2377440" cy="2377440"/>
          </a:xfrm>
          <a:prstGeom prst="ellipse">
            <a:avLst/>
          </a:prstGeom>
          <a:solidFill>
            <a:srgbClr val="FF6600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Google Shape;19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201168"/>
            <a:ext cx="292608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365760" y="1051560"/>
            <a:ext cx="6400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 Black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Testing Report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65760" y="18745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C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B0B0C0"/>
                </a:solidFill>
                <a:latin typeface="Calibri"/>
                <a:ea typeface="Calibri"/>
                <a:cs typeface="Calibri"/>
                <a:sym typeface="Calibri"/>
              </a:rPr>
              <a:t>Manual QA  ·  Login  ·  Search  ·  My Info  ·  Admin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65760" y="2578608"/>
            <a:ext cx="1920240" cy="1170432"/>
          </a:xfrm>
          <a:prstGeom prst="rect">
            <a:avLst/>
          </a:prstGeom>
          <a:solidFill>
            <a:srgbClr val="0F3460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365760" y="260604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3000"/>
              <a:buFont typeface="Arial Black"/>
              <a:buNone/>
            </a:pPr>
            <a:r>
              <a:rPr lang="en-US" sz="3000" b="1" dirty="0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r>
              <a:rPr lang="en-US" sz="3000" b="1" i="0" u="none" strike="noStrike" cap="none" dirty="0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65760" y="324612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0C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B0C0"/>
                </a:solidFill>
                <a:latin typeface="Calibri"/>
                <a:ea typeface="Calibri"/>
                <a:cs typeface="Calibri"/>
                <a:sym typeface="Calibri"/>
              </a:rPr>
              <a:t>Test Cases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542032" y="2578608"/>
            <a:ext cx="1920240" cy="1170432"/>
          </a:xfrm>
          <a:prstGeom prst="rect">
            <a:avLst/>
          </a:prstGeom>
          <a:solidFill>
            <a:srgbClr val="0F3460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2542032" y="260604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3000"/>
              <a:buFont typeface="Arial Black"/>
              <a:buNone/>
            </a:pPr>
            <a:r>
              <a:rPr lang="en-US" sz="3000" b="1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r>
              <a:rPr lang="en-US" sz="3000" b="1" i="0" u="none" strike="noStrike" cap="none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2542032" y="324612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0C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B0C0"/>
                </a:solidFill>
                <a:latin typeface="Calibri"/>
                <a:ea typeface="Calibri"/>
                <a:cs typeface="Calibri"/>
                <a:sym typeface="Calibri"/>
              </a:rPr>
              <a:t>Passed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718304" y="2578608"/>
            <a:ext cx="1920240" cy="1170432"/>
          </a:xfrm>
          <a:prstGeom prst="rect">
            <a:avLst/>
          </a:prstGeom>
          <a:solidFill>
            <a:srgbClr val="0F3460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718304" y="260604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3000"/>
              <a:buFont typeface="Arial Black"/>
              <a:buNone/>
            </a:pPr>
            <a:r>
              <a:rPr lang="en-US" sz="3000" b="1" i="0" u="none" strike="noStrike" cap="none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13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718304" y="324612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0C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B0C0"/>
                </a:solidFill>
                <a:latin typeface="Calibri"/>
                <a:ea typeface="Calibri"/>
                <a:cs typeface="Calibri"/>
                <a:sym typeface="Calibri"/>
              </a:rPr>
              <a:t>Failed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894576" y="2578608"/>
            <a:ext cx="1920240" cy="1170432"/>
          </a:xfrm>
          <a:prstGeom prst="rect">
            <a:avLst/>
          </a:prstGeom>
          <a:solidFill>
            <a:srgbClr val="0F3460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6894576" y="260604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3000"/>
              <a:buFont typeface="Arial Black"/>
              <a:buNone/>
            </a:pPr>
            <a:r>
              <a:rPr lang="en-US" sz="3000" b="1" i="0" u="none" strike="noStrike" cap="none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13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894576" y="324612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0C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B0C0"/>
                </a:solidFill>
                <a:latin typeface="Calibri"/>
                <a:ea typeface="Calibri"/>
                <a:cs typeface="Calibri"/>
                <a:sym typeface="Calibri"/>
              </a:rPr>
              <a:t>Bugs Found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9525" y="3886200"/>
            <a:ext cx="132587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/>
          <p:nvPr/>
        </p:nvSpPr>
        <p:spPr>
          <a:xfrm>
            <a:off x="365760" y="477316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C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B0C0"/>
                </a:solidFill>
                <a:latin typeface="Calibri"/>
                <a:ea typeface="Calibri"/>
                <a:cs typeface="Calibri"/>
                <a:sym typeface="Calibri"/>
              </a:rPr>
              <a:t>Tested by: Piyush Bhagchandani  |  May 2026  |  OrangeHRM OS 5.8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65760" y="118872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Test Execution Summary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43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9440" y="91440"/>
            <a:ext cx="1920240" cy="594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760" y="914400"/>
            <a:ext cx="4114800" cy="35204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4846320" y="960120"/>
            <a:ext cx="3931920" cy="804672"/>
          </a:xfrm>
          <a:prstGeom prst="rect">
            <a:avLst/>
          </a:prstGeom>
          <a:solidFill>
            <a:srgbClr val="0F3460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074920" y="1014984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Test Cases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498080" y="996696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lang="en-US" sz="3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r>
              <a:rPr lang="en-US" sz="34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846320" y="1920240"/>
            <a:ext cx="3931920" cy="804672"/>
          </a:xfrm>
          <a:prstGeom prst="rect">
            <a:avLst/>
          </a:prstGeom>
          <a:solidFill>
            <a:srgbClr val="1A7A4A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5074920" y="1975104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498080" y="1956816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lang="en-US" sz="34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r>
              <a:rPr lang="en-US" sz="34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846320" y="2880360"/>
            <a:ext cx="3931920" cy="804672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074920" y="2935224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Failed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7498080" y="2916936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13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846320" y="3840480"/>
            <a:ext cx="3931920" cy="804672"/>
          </a:xfrm>
          <a:prstGeom prst="rect">
            <a:avLst/>
          </a:prstGeom>
          <a:solidFill>
            <a:srgbClr val="D35400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5074920" y="3895344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Bugs Reported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7498080" y="3877056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13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846320" y="47091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Pass Rate: 78.7%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365760" y="109728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Module-wise Breakdown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2075" y="0"/>
            <a:ext cx="921925" cy="8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760" y="914400"/>
            <a:ext cx="530352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/>
          <p:nvPr/>
        </p:nvSpPr>
        <p:spPr>
          <a:xfrm>
            <a:off x="5943600" y="960120"/>
            <a:ext cx="2926080" cy="841248"/>
          </a:xfrm>
          <a:prstGeom prst="rect">
            <a:avLst/>
          </a:prstGeom>
          <a:solidFill>
            <a:srgbClr val="3498DB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6080760" y="100584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080760" y="134416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21 TCs  |  4 Bugs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943600" y="1965960"/>
            <a:ext cx="2926080" cy="841248"/>
          </a:xfrm>
          <a:prstGeom prst="rect">
            <a:avLst/>
          </a:prstGeom>
          <a:solidFill>
            <a:srgbClr val="2ECC71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6080760" y="201168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080760" y="235000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TCs  |  0 Bugs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943600" y="2971800"/>
            <a:ext cx="2926080" cy="841248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080760" y="301752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 Info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080760" y="335584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 TCs  |  7 Bugs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943600" y="3977640"/>
            <a:ext cx="2926080" cy="841248"/>
          </a:xfrm>
          <a:prstGeom prst="rect">
            <a:avLst/>
          </a:prstGeom>
          <a:solidFill>
            <a:srgbClr val="9B59B6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080760" y="402336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080760" y="436168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 TCs  |  2 Bugs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365760" y="109728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Bug Severity Breakdown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0" y="109728"/>
            <a:ext cx="2011680" cy="56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4320" y="868680"/>
            <a:ext cx="41148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4754880" y="960120"/>
            <a:ext cx="22860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983480" y="960120"/>
            <a:ext cx="39776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5138928" y="1024128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Critical  —  1 Bug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138928" y="1380744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Auth bypass via special chars in username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754880" y="1965960"/>
            <a:ext cx="22860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4983480" y="1965960"/>
            <a:ext cx="39776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5138928" y="2029968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High  —  5 Bugs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138928" y="2386584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Case sensitivity, Employee ID editable, Partial search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754880" y="2971800"/>
            <a:ext cx="228600" cy="82296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983480" y="2971800"/>
            <a:ext cx="39776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5138928" y="3035808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C0D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4AC0D"/>
                </a:solidFill>
                <a:latin typeface="Calibri"/>
                <a:ea typeface="Calibri"/>
                <a:cs typeface="Calibri"/>
                <a:sym typeface="Calibri"/>
              </a:rPr>
              <a:t>Medium  —  4 Bugs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138928" y="3392424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License date, DOB, Name validation, Driver's license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754880" y="3977640"/>
            <a:ext cx="22860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4983480" y="3977640"/>
            <a:ext cx="39776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138928" y="4041648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Low  —  3 Bugs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138928" y="4398264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Gender options, minor UI / misunderstanding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365760" y="109728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Login Module — Bugs Found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400800" y="22860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Bugs  |  1 Critical · 3 High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7" descr="preencoded.png"/>
          <p:cNvPicPr preferRelativeResize="0"/>
          <p:nvPr/>
        </p:nvPicPr>
        <p:blipFill rotWithShape="1">
          <a:blip r:embed="rId3">
            <a:alphaModFix amt="40000"/>
          </a:blip>
          <a:srcRect/>
          <a:stretch/>
        </p:blipFill>
        <p:spPr>
          <a:xfrm>
            <a:off x="7955280" y="402336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/>
          <p:nvPr/>
        </p:nvSpPr>
        <p:spPr>
          <a:xfrm>
            <a:off x="274320" y="960120"/>
            <a:ext cx="8595360" cy="8869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274320" y="960120"/>
            <a:ext cx="201168" cy="8869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594360" y="10058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Bug_001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645920" y="1024128"/>
            <a:ext cx="82296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1645920" y="101498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94422" y="1248197"/>
            <a:ext cx="6217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Login with invalid Credentials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94360" y="1380744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Lowercase username 'admin' logs in successfully — case sensitivity not enforced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274320" y="1965960"/>
            <a:ext cx="8595360" cy="8869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274320" y="1965960"/>
            <a:ext cx="201168" cy="8869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594360" y="201168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Bug_002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645920" y="2029968"/>
            <a:ext cx="82296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1645920" y="202082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94360" y="2203712"/>
            <a:ext cx="6217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Username all lowercase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94360" y="2386584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Username 'admin' bypasses authentication — no case validation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274320" y="2971800"/>
            <a:ext cx="8595360" cy="8869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274320" y="2971800"/>
            <a:ext cx="201168" cy="8869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594360" y="301752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Bug_003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645920" y="3035808"/>
            <a:ext cx="822960" cy="23774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1645920" y="302666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94372" y="3209539"/>
            <a:ext cx="6217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Special chars in username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94360" y="3392424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Username with special chars (Admin!@#$%) still logs in successfully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274320" y="3977640"/>
            <a:ext cx="8595360" cy="8869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274320" y="3977640"/>
            <a:ext cx="201168" cy="8869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594360" y="402336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Bug_004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645920" y="4041648"/>
            <a:ext cx="82296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1645920" y="403250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94297" y="4215404"/>
            <a:ext cx="6217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Username all uppercase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94360" y="4398264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'ADMIN' uppercase logs in — no case validation on username field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365760" y="109728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My Info Module — Bugs Found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943600" y="22860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 Bugs  |  2 High · 3 Medium · 1 Low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274320" y="914400"/>
            <a:ext cx="42062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274320" y="914400"/>
            <a:ext cx="164592" cy="91440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530352" y="9509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Bug_005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481328" y="969264"/>
            <a:ext cx="777240" cy="210312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1481328" y="960120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30352" y="11887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Name with numbers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530352" y="149047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First name accepts numeric input '123456' and saves without error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274320" y="1938528"/>
            <a:ext cx="42062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274320" y="1938528"/>
            <a:ext cx="164592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30352" y="197510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Bug_006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481328" y="1993392"/>
            <a:ext cx="777240" cy="2103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1481328" y="1984248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530352" y="221284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Name with special characters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30352" y="25146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First name accepts '@#$' — no format validation on name fields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274320" y="2962656"/>
            <a:ext cx="42062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274320" y="2962656"/>
            <a:ext cx="164592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530352" y="29992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Bug_007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481328" y="3017520"/>
            <a:ext cx="777240" cy="2103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1481328" y="3008376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30352" y="323697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Employee ID read-only check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30352" y="35387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Employee ID is editable — should be read-only (unique identifier)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274320" y="3986784"/>
            <a:ext cx="42062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274320" y="3986784"/>
            <a:ext cx="164592" cy="91440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530352" y="40233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Bug_008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481328" y="4041648"/>
            <a:ext cx="777240" cy="210312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1481328" y="4032504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30352" y="426110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License expiry in the past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30352" y="456285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Past license expiry date accepted with no warning or validation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709160" y="914400"/>
            <a:ext cx="42062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4709160" y="914400"/>
            <a:ext cx="164592" cy="91440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4965192" y="9509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Bug_009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916168" y="969264"/>
            <a:ext cx="777240" cy="210312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5916168" y="960120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965192" y="11887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Future date of birth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965192" y="149047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Future DOB accepted — no age logic or date validation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709160" y="1938528"/>
            <a:ext cx="42062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4709160" y="1938528"/>
            <a:ext cx="164592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4965192" y="197510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Bug_010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916168" y="1993392"/>
            <a:ext cx="777240" cy="2103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5916168" y="1984248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965192" y="221284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Gender options incomplete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965192" y="25146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Only Male/Female present — no Other/Non-binary option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709160" y="2962656"/>
            <a:ext cx="42062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4709160" y="2962656"/>
            <a:ext cx="164592" cy="91440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4965192" y="29992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Bug_011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916168" y="3017520"/>
            <a:ext cx="777240" cy="210312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5916168" y="3008376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965192" y="323697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Driver's License invalid input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965192" y="35387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Random string 'fadfada' accepted as valid license number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365760" y="109728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Admin Module — Bugs Found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1944" y="-4572"/>
            <a:ext cx="852055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9"/>
          <p:cNvSpPr/>
          <p:nvPr/>
        </p:nvSpPr>
        <p:spPr>
          <a:xfrm>
            <a:off x="274320" y="1005840"/>
            <a:ext cx="8595360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274320" y="1005840"/>
            <a:ext cx="201168" cy="1207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594360" y="106984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Bug_012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664208" y="1097280"/>
            <a:ext cx="822960" cy="2468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1664208" y="1088136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94360" y="1289273"/>
            <a:ext cx="6858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Partial username search fails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594360" y="1517903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Searching 'Ahmed' returns 'No records found' — partial match broken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94360" y="1865376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Recommendation: Implement partial/contains match in username filter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274320" y="2377440"/>
            <a:ext cx="8595360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274320" y="2377440"/>
            <a:ext cx="201168" cy="1207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594360" y="244144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Bug_013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1664208" y="2468880"/>
            <a:ext cx="822960" cy="2468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1664208" y="2459736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94360" y="2679098"/>
            <a:ext cx="6858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Add new employee field confusion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594360" y="2980915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Employee name field in Add User does not create new employee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594360" y="3236976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Recommendation: Implement partial/contains match in username filter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365760" y="109728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Bug Summary Table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3720" y="118872"/>
            <a:ext cx="1920240" cy="56692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0" name="Google Shape;230;p10"/>
          <p:cNvGraphicFramePr/>
          <p:nvPr/>
        </p:nvGraphicFramePr>
        <p:xfrm>
          <a:off x="228600" y="896112"/>
          <a:ext cx="8686825" cy="4069100"/>
        </p:xfrm>
        <a:graphic>
          <a:graphicData uri="http://schemas.openxmlformats.org/drawingml/2006/table">
            <a:tbl>
              <a:tblPr>
                <a:noFill/>
                <a:tableStyleId>{A005E34B-E1C9-4433-81CB-9734E210336A}</a:tableStyleId>
              </a:tblPr>
              <a:tblGrid>
                <a:gridCol w="100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0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Bug ID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Module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Severity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Bug_001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 with invalid Credentials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Bug_002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Username all lowercase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Bug_003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Special chars in username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Bug_004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Username all uppercase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Bug_005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 Info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 with numbers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Bug_006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 Info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 with special characters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Bug_007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 Info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 ID read-only check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Bug_008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 Info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License expiry in the past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Bug_009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 Info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Future date of birth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Bug_010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 Info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Gender options incomplete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Bug_011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 Info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Driver's License invalid input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Bug_012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username search fails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Bug_013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new employee field confusion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365760" y="109728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Key Findings &amp; Recommendations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2440" y="18288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1"/>
          <p:cNvSpPr/>
          <p:nvPr/>
        </p:nvSpPr>
        <p:spPr>
          <a:xfrm>
            <a:off x="274320" y="960120"/>
            <a:ext cx="8595360" cy="8869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310896" y="1143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🔴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914400" y="1024128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Authentication is not secure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914400" y="1380744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Username case sensitivity absent — 'admin', 'ADMIN', 'Admin' all login. Critical auth flaw that must be fixed before production.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274320" y="1947672"/>
            <a:ext cx="8595360" cy="8869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310896" y="21305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🟠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914400" y="2011680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Employee ID must be read-only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914400" y="2368296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Any user can edit their own Employee ID (unique system identifier). This can cause data corruption and audit failure.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274320" y="2935224"/>
            <a:ext cx="8595360" cy="8869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310896" y="311810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🟡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914400" y="2999232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 data validation on key fields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914400" y="3355848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Driver's license, name fields, and DOB accept any input. Business data quality is compromised — garbage in, garbage out.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274320" y="3922776"/>
            <a:ext cx="8595360" cy="8869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310896" y="410565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🔵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914400" y="3986784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Admin search — partial match broken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914400" y="4343400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Searching 'Ahmed' returns no records instead of matching AhmedAli1/2/3. Core HR function is non-functional.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FF6600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2" name="Google Shape;262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256032"/>
            <a:ext cx="3200400" cy="749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06640" y="3429000"/>
            <a:ext cx="1508760" cy="15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2"/>
          <p:cNvSpPr/>
          <p:nvPr/>
        </p:nvSpPr>
        <p:spPr>
          <a:xfrm>
            <a:off x="365760" y="123444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000"/>
              <a:buFont typeface="Arial Black"/>
              <a:buNone/>
            </a:pPr>
            <a:r>
              <a:rPr lang="en-US" sz="4000" b="1" i="0" u="none" strike="noStrike" cap="none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Testing Complete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365760" y="205740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OrangeHRM Manual QA Report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457200" y="2697480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0B0C0"/>
              </a:buClr>
              <a:buSzPts val="1300"/>
              <a:buFont typeface="Calibri"/>
              <a:buChar char="•"/>
            </a:pPr>
            <a:r>
              <a:rPr lang="en-US" sz="1300" dirty="0">
                <a:solidFill>
                  <a:srgbClr val="B0B0C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300" b="0" i="0" u="none" strike="noStrike" cap="none" dirty="0">
                <a:solidFill>
                  <a:srgbClr val="B0B0C0"/>
                </a:solidFill>
                <a:latin typeface="Calibri"/>
                <a:ea typeface="Calibri"/>
                <a:cs typeface="Calibri"/>
                <a:sym typeface="Calibri"/>
              </a:rPr>
              <a:t>1 test cases executed across 4 modules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457200" y="3081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0B0C0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B0B0C0"/>
                </a:solidFill>
                <a:latin typeface="Calibri"/>
                <a:ea typeface="Calibri"/>
                <a:cs typeface="Calibri"/>
                <a:sym typeface="Calibri"/>
              </a:rPr>
              <a:t>13 bugs identified and documented with Defect IDs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457200" y="3465576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0B0C0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B0B0C0"/>
                </a:solidFill>
                <a:latin typeface="Calibri"/>
                <a:ea typeface="Calibri"/>
                <a:cs typeface="Calibri"/>
                <a:sym typeface="Calibri"/>
              </a:rPr>
              <a:t>1 Critical · 5 High · 4 Medium · 3 Low severity bugs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457200" y="3849624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0B0C0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B0B0C0"/>
                </a:solidFill>
                <a:latin typeface="Calibri"/>
                <a:ea typeface="Calibri"/>
                <a:cs typeface="Calibri"/>
                <a:sym typeface="Calibri"/>
              </a:rPr>
              <a:t>Pass rate: 78.7%  —  recommend fixes before production release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C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B0C0"/>
                </a:solidFill>
                <a:latin typeface="Calibri"/>
                <a:ea typeface="Calibri"/>
                <a:cs typeface="Calibri"/>
                <a:sym typeface="Calibri"/>
              </a:rPr>
              <a:t>Tested by: Piyush Bhagchandani  |  May 2026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754</Words>
  <Application>Microsoft Office PowerPoint</Application>
  <PresentationFormat>On-screen Show (16:9)</PresentationFormat>
  <Paragraphs>199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 Black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Piyush Bhagchandani</cp:lastModifiedBy>
  <cp:revision>2</cp:revision>
  <dcterms:modified xsi:type="dcterms:W3CDTF">2026-05-25T06:47:38Z</dcterms:modified>
</cp:coreProperties>
</file>